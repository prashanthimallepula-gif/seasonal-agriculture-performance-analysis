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5" d="100"/>
          <a:sy n="85" d="100"/>
        </p:scale>
        <p:origin x="494" y="53"/>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prashanthimallepula-gif/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90000" y="3583914"/>
            <a:ext cx="5406000" cy="861497"/>
          </a:xfrm>
        </p:spPr>
        <p:txBody>
          <a:bodyPr vert="horz" lIns="91440" tIns="45720" rIns="91440" bIns="45720" rtlCol="0" anchor="t">
            <a:normAutofit fontScale="92500"/>
          </a:bodyPr>
          <a:lstStyle/>
          <a:p>
            <a:pPr algn="l"/>
            <a:r>
              <a:rPr lang="en-US" dirty="0">
                <a:solidFill>
                  <a:schemeClr val="tx1"/>
                </a:solidFill>
              </a:rPr>
              <a:t>FULL NAME : </a:t>
            </a:r>
            <a:r>
              <a:rPr lang="en-US" b="0" dirty="0">
                <a:solidFill>
                  <a:schemeClr val="tx1"/>
                </a:solidFill>
              </a:rPr>
              <a:t>Mallepula Prashanthi</a:t>
            </a:r>
            <a:endParaRPr lang="en-IN" b="0" dirty="0">
              <a:solidFill>
                <a:schemeClr val="tx1"/>
              </a:solidFill>
            </a:endParaRPr>
          </a:p>
          <a:p>
            <a:pPr algn="l"/>
            <a:r>
              <a:rPr lang="en-US" dirty="0">
                <a:solidFill>
                  <a:schemeClr val="tx1"/>
                </a:solidFill>
              </a:rPr>
              <a:t>COLLEGE NAME : </a:t>
            </a:r>
            <a:r>
              <a:rPr lang="en-US" b="0" dirty="0">
                <a:solidFill>
                  <a:schemeClr val="tx1"/>
                </a:solidFill>
              </a:rPr>
              <a:t>Matrusri Engineering College</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5957" y="2448043"/>
            <a:ext cx="4998720" cy="743448"/>
          </a:xfrm>
        </p:spPr>
        <p:txBody>
          <a:bodyPr>
            <a:normAutofit fontScale="90000"/>
          </a:bodyPr>
          <a:lstStyle/>
          <a:p>
            <a:r>
              <a:rPr lang="en-GB" sz="32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90000" y="4445411"/>
            <a:ext cx="6033529" cy="369332"/>
          </a:xfrm>
          <a:prstGeom prst="rect">
            <a:avLst/>
          </a:prstGeom>
          <a:noFill/>
        </p:spPr>
        <p:txBody>
          <a:bodyPr wrap="square" rtlCol="0">
            <a:spAutoFit/>
          </a:bodyPr>
          <a:lstStyle/>
          <a:p>
            <a:r>
              <a:rPr lang="en-US" b="1" dirty="0"/>
              <a:t>AICTE STU ID : </a:t>
            </a:r>
            <a:r>
              <a:rPr lang="en-US" dirty="0"/>
              <a:t>STU661e7cc98e8471713274057</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980677" y="2102230"/>
            <a:ext cx="6431280" cy="3607987"/>
          </a:xfrm>
        </p:spPr>
        <p:txBody>
          <a:bodyPr vert="horz" lIns="91440" tIns="45720" rIns="91440" bIns="45720" rtlCol="0" anchor="t">
            <a:normAutofit/>
          </a:bodyPr>
          <a:lstStyle/>
          <a:p>
            <a:pPr marL="0" indent="0" algn="just">
              <a:lnSpc>
                <a:spcPct val="100000"/>
              </a:lnSpc>
              <a:buNone/>
            </a:pPr>
            <a:r>
              <a:rPr lang="en-US" sz="1800" dirty="0">
                <a:latin typeface="Calibri" panose="020F0502020204030204" pitchFamily="34" charset="0"/>
                <a:ea typeface="Calibri" panose="020F0502020204030204" pitchFamily="34" charset="0"/>
                <a:cs typeface="Calibri" panose="020F0502020204030204" pitchFamily="34"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1800" dirty="0">
              <a:latin typeface="Calibri" panose="020F0502020204030204" pitchFamily="34" charset="0"/>
              <a:ea typeface="Calibri" panose="020F0502020204030204" pitchFamily="34" charset="0"/>
              <a:cs typeface="Calibri" panose="020F0502020204030204" pitchFamily="34" charset="0"/>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a:bodyPr>
          <a:lstStyle/>
          <a:p>
            <a:r>
              <a:rPr lang="en-GB" dirty="0"/>
              <a:t>Project Description</a:t>
            </a: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10" name="TextBox 9"/>
          <p:cNvSpPr txBox="1"/>
          <p:nvPr/>
        </p:nvSpPr>
        <p:spPr>
          <a:xfrm>
            <a:off x="690000" y="2050000"/>
            <a:ext cx="8600000" cy="4300000"/>
          </a:xfrm>
          <a:prstGeom prst="rect">
            <a:avLst/>
          </a:prstGeom>
          <a:noFill/>
        </p:spPr>
        <p:txBody>
          <a:bodyPr wrap="square">
            <a:spAutoFit/>
          </a:bodyPr>
          <a:lstStyle/>
          <a:p>
            <a:pPr marL="228600" indent="-228600" algn="l">
              <a:spcAft>
                <a:spcPts val="1000"/>
              </a:spcAft>
              <a:buFont typeface="Arial"/>
              <a:buChar char="•"/>
            </a:pPr>
            <a:r>
              <a:rPr sz="1600">
                <a:solidFill>
                  <a:srgbClr val="222B33"/>
                </a:solidFill>
                <a:latin typeface="Calibri"/>
              </a:rPr>
              <a:t>Analyzed a farm-level agricultural dataset of 4,000 records across 8 states, 10 districts, 8 crops, 3 seasons (Kharif, Rabi, Zaid) and 4 irrigation methods.</a:t>
            </a:r>
          </a:p>
          <a:p>
            <a:pPr marL="228600" indent="-228600" algn="l">
              <a:spcAft>
                <a:spcPts val="1000"/>
              </a:spcAft>
              <a:buFont typeface="Arial"/>
              <a:buChar char="•"/>
            </a:pPr>
            <a:r>
              <a:rPr sz="1600">
                <a:solidFill>
                  <a:srgbClr val="222B33"/>
                </a:solidFill>
                <a:latin typeface="Calibri"/>
              </a:rPr>
              <a:t>Cleaned missing values (season+crop-aware median imputation) and capped unrealistic outliers in yield and water-efficiency using the IQR method.</a:t>
            </a:r>
          </a:p>
          <a:p>
            <a:pPr marL="228600" indent="-228600" algn="l">
              <a:spcAft>
                <a:spcPts val="1000"/>
              </a:spcAft>
              <a:buFont typeface="Arial"/>
              <a:buChar char="•"/>
            </a:pPr>
            <a:r>
              <a:rPr sz="1600">
                <a:solidFill>
                  <a:srgbClr val="222B33"/>
                </a:solidFill>
                <a:latin typeface="Calibri"/>
              </a:rPr>
              <a:t>Engineered new metrics — Profit Margin %, Cost/Revenue per Hectare, and total NPK intensity — for fairer cross-farm and cross-season comparison.</a:t>
            </a:r>
          </a:p>
          <a:p>
            <a:pPr marL="228600" indent="-228600" algn="l">
              <a:spcAft>
                <a:spcPts val="1000"/>
              </a:spcAft>
              <a:buFont typeface="Arial"/>
              <a:buChar char="•"/>
            </a:pPr>
            <a:r>
              <a:rPr sz="1600">
                <a:solidFill>
                  <a:srgbClr val="222B33"/>
                </a:solidFill>
                <a:latin typeface="Calibri"/>
              </a:rPr>
              <a:t>Explored environmental conditions, resource usage, yield, and profitability across seasons using visual and statistical analysis.</a:t>
            </a:r>
          </a:p>
          <a:p>
            <a:pPr marL="228600" indent="-228600" algn="l">
              <a:spcAft>
                <a:spcPts val="1000"/>
              </a:spcAft>
              <a:buFont typeface="Arial"/>
              <a:buChar char="•"/>
            </a:pPr>
            <a:r>
              <a:rPr sz="1600">
                <a:solidFill>
                  <a:srgbClr val="222B33"/>
                </a:solidFill>
                <a:latin typeface="Calibri"/>
              </a:rPr>
              <a:t>Applied Kruskal-Wallis hypothesis tests to confirm which seasonal differences are statistically significant, not just visual.</a:t>
            </a:r>
          </a:p>
          <a:p>
            <a:pPr marL="228600" indent="-228600" algn="l">
              <a:spcAft>
                <a:spcPts val="1000"/>
              </a:spcAft>
              <a:buFont typeface="Arial"/>
              <a:buChar char="•"/>
            </a:pPr>
            <a:r>
              <a:rPr sz="1600">
                <a:solidFill>
                  <a:srgbClr val="222B33"/>
                </a:solidFill>
                <a:latin typeface="Calibri"/>
              </a:rPr>
              <a:t>Derived evidence-based insights and recommendations to support season-specific agricultural planning.</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wrap="square">
            <a:normAutofit fontScale="92500" lnSpcReduction="20000"/>
          </a:bodyPr>
          <a:lstStyle/>
          <a:p>
            <a:pPr marL="228600" indent="-228600" algn="l">
              <a:lnSpc>
                <a:spcPct val="150000"/>
              </a:lnSpc>
              <a:spcAft>
                <a:spcPts val="1000"/>
              </a:spcAft>
              <a:buFont typeface="Arial"/>
              <a:buChar char="•"/>
            </a:pPr>
            <a:r>
              <a:rPr sz="2000">
                <a:solidFill>
                  <a:srgbClr val="222B33"/>
                </a:solidFill>
                <a:latin typeface="Calibri"/>
              </a:rPr>
              <a:t>Farmers and farmer cooperatives choosing crops and irrigation methods by season</a:t>
            </a:r>
            <a:endParaRPr lang="en-IN" sz="3600" dirty="0"/>
          </a:p>
          <a:p>
            <a:pPr marL="228600" indent="-228600" algn="l">
              <a:spcAft>
                <a:spcPts val="1000"/>
              </a:spcAft>
              <a:buFont typeface="Arial"/>
              <a:buChar char="•"/>
            </a:pPr>
            <a:r>
              <a:rPr sz="2000">
                <a:solidFill>
                  <a:srgbClr val="222B33"/>
                </a:solidFill>
                <a:latin typeface="Calibri"/>
              </a:rPr>
              <a:t>State agriculture departments and policymakers designing seasonal advisories</a:t>
            </a:r>
          </a:p>
          <a:p>
            <a:pPr marL="228600" indent="-228600" algn="l">
              <a:spcAft>
                <a:spcPts val="1000"/>
              </a:spcAft>
              <a:buFont typeface="Arial"/>
              <a:buChar char="•"/>
            </a:pPr>
            <a:r>
              <a:rPr sz="2000">
                <a:solidFill>
                  <a:srgbClr val="222B33"/>
                </a:solidFill>
                <a:latin typeface="Calibri"/>
              </a:rPr>
              <a:t>Agri-business, agri-fintech and crop-insurance companies assessing seasonal risk</a:t>
            </a:r>
          </a:p>
          <a:p>
            <a:pPr marL="228600" indent="-228600" algn="l">
              <a:spcAft>
                <a:spcPts val="1000"/>
              </a:spcAft>
              <a:buFont typeface="Arial"/>
              <a:buChar char="•"/>
            </a:pPr>
            <a:r>
              <a:rPr sz="2000">
                <a:solidFill>
                  <a:srgbClr val="222B33"/>
                </a:solidFill>
                <a:latin typeface="Calibri"/>
              </a:rPr>
              <a:t>Agricultural researchers and students studying seasonal performance patterns</a:t>
            </a:r>
          </a:p>
          <a:p>
            <a:pPr marL="228600" indent="-228600" algn="l">
              <a:spcAft>
                <a:spcPts val="1000"/>
              </a:spcAft>
              <a:buFont typeface="Arial"/>
              <a:buChar char="•"/>
            </a:pPr>
            <a:r>
              <a:rPr sz="2000">
                <a:solidFill>
                  <a:srgbClr val="222B33"/>
                </a:solidFill>
                <a:latin typeface="Calibri"/>
              </a:rPr>
              <a:t>Agri-input companies (fertilizer, seed, irrigation equipment) planning seasonal demand and supply</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2050000" y="1432560"/>
            <a:ext cx="7400000" cy="5243448"/>
          </a:xfrm>
        </p:spPr>
        <p:txBody>
          <a:bodyPr wrap="square"/>
          <a:lstStyle/>
          <a:p>
            <a:pPr marL="228600" lvl="1" indent="-228600" algn="l">
              <a:lnSpc>
                <a:spcPct val="150000"/>
              </a:lnSpc>
              <a:spcAft>
                <a:spcPts val="1000"/>
              </a:spcAft>
              <a:buFont typeface="Arial"/>
              <a:buChar char="•"/>
            </a:pPr>
            <a:r>
              <a:rPr sz="1800">
                <a:solidFill>
                  <a:srgbClr val="222B33"/>
                </a:solidFill>
                <a:latin typeface="Calibri"/>
              </a:rPr>
              <a:t>Python 3 — core programming language for the analysis</a:t>
            </a:r>
            <a:endParaRPr lang="en-IN" dirty="0"/>
          </a:p>
          <a:p>
            <a:pPr marL="228600" indent="-228600" algn="l">
              <a:spcAft>
                <a:spcPts val="1000"/>
              </a:spcAft>
              <a:buFont typeface="Arial"/>
              <a:buChar char="•"/>
            </a:pPr>
            <a:r>
              <a:rPr sz="1800">
                <a:solidFill>
                  <a:srgbClr val="222B33"/>
                </a:solidFill>
                <a:latin typeface="Calibri"/>
              </a:rPr>
              <a:t>Pandas &amp; NumPy — data cleaning, wrangling and feature engineering</a:t>
            </a:r>
          </a:p>
          <a:p>
            <a:pPr marL="228600" indent="-228600" algn="l">
              <a:spcAft>
                <a:spcPts val="1000"/>
              </a:spcAft>
              <a:buFont typeface="Arial"/>
              <a:buChar char="•"/>
            </a:pPr>
            <a:r>
              <a:rPr sz="1800">
                <a:solidFill>
                  <a:srgbClr val="222B33"/>
                </a:solidFill>
                <a:latin typeface="Calibri"/>
              </a:rPr>
              <a:t>Matplotlib &amp; Seaborn — exploratory data visualization</a:t>
            </a:r>
          </a:p>
          <a:p>
            <a:pPr marL="228600" indent="-228600" algn="l">
              <a:spcAft>
                <a:spcPts val="1000"/>
              </a:spcAft>
              <a:buFont typeface="Arial"/>
              <a:buChar char="•"/>
            </a:pPr>
            <a:r>
              <a:rPr sz="1800">
                <a:solidFill>
                  <a:srgbClr val="222B33"/>
                </a:solidFill>
                <a:latin typeface="Calibri"/>
              </a:rPr>
              <a:t>SciPy (stats) — Kruskal-Wallis hypothesis testing</a:t>
            </a:r>
          </a:p>
          <a:p>
            <a:pPr marL="228600" indent="-228600" algn="l">
              <a:spcAft>
                <a:spcPts val="1000"/>
              </a:spcAft>
              <a:buFont typeface="Arial"/>
              <a:buChar char="•"/>
            </a:pPr>
            <a:r>
              <a:rPr sz="1800">
                <a:solidFill>
                  <a:srgbClr val="222B33"/>
                </a:solidFill>
                <a:latin typeface="Calibri"/>
              </a:rPr>
              <a:t>Jupyter Notebook — analysis environment and documentation</a:t>
            </a:r>
          </a:p>
          <a:p>
            <a:pPr marL="228600" indent="-228600" algn="l">
              <a:spcAft>
                <a:spcPts val="1000"/>
              </a:spcAft>
              <a:buFont typeface="Arial"/>
              <a:buChar char="•"/>
            </a:pPr>
            <a:r>
              <a:rPr sz="1800">
                <a:solidFill>
                  <a:srgbClr val="222B33"/>
                </a:solidFill>
                <a:latin typeface="Calibri"/>
              </a:rPr>
              <a:t>GitHub — version control and project submission</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4" name="Picture 23" descr="chart_02_cell17.png"/>
          <p:cNvPicPr>
            <a:picLocks noChangeAspect="1"/>
          </p:cNvPicPr>
          <p:nvPr/>
        </p:nvPicPr>
        <p:blipFill>
          <a:blip r:embed="rId3"/>
          <a:stretch>
            <a:fillRect/>
          </a:stretch>
        </p:blipFill>
        <p:spPr>
          <a:xfrm>
            <a:off x="1985256" y="2050000"/>
            <a:ext cx="6429487" cy="4250000"/>
          </a:xfrm>
          <a:prstGeom prst="rect">
            <a:avLst/>
          </a:prstGeom>
        </p:spPr>
      </p:pic>
      <p:sp>
        <p:nvSpPr>
          <p:cNvPr id="25" name="TextBox 24"/>
          <p:cNvSpPr txBox="1"/>
          <p:nvPr/>
        </p:nvSpPr>
        <p:spPr>
          <a:xfrm>
            <a:off x="573459" y="1269856"/>
            <a:ext cx="10400000" cy="338554"/>
          </a:xfrm>
          <a:prstGeom prst="rect">
            <a:avLst/>
          </a:prstGeom>
          <a:noFill/>
        </p:spPr>
        <p:txBody>
          <a:bodyPr wrap="square">
            <a:spAutoFit/>
          </a:bodyPr>
          <a:lstStyle/>
          <a:p>
            <a:r>
              <a:rPr sz="1600" dirty="0">
                <a:latin typeface="Calibri" panose="020F0502020204030204" pitchFamily="34" charset="0"/>
                <a:ea typeface="Calibri" panose="020F0502020204030204" pitchFamily="34" charset="0"/>
                <a:cs typeface="Calibri" panose="020F0502020204030204" pitchFamily="34" charset="0"/>
              </a:rPr>
              <a:t>Kharif has the most farm records, followed by Rabi and Zaid — reflecting typical cropping-season prevalence.</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511329" y="1143080"/>
            <a:ext cx="10400000" cy="750000"/>
          </a:xfrm>
        </p:spPr>
        <p:txBody>
          <a:bodyPr wrap="square">
            <a:normAutofit/>
          </a:bodyPr>
          <a:lstStyle/>
          <a:p>
            <a:pPr marL="0" indent="0">
              <a:buNone/>
            </a:pPr>
            <a:r>
              <a:rPr sz="1600" dirty="0">
                <a:solidFill>
                  <a:schemeClr val="tx1"/>
                </a:solidFill>
                <a:latin typeface="Calibri" panose="020F0502020204030204" pitchFamily="34" charset="0"/>
                <a:ea typeface="Calibri" panose="020F0502020204030204" pitchFamily="34" charset="0"/>
                <a:cs typeface="Calibri" panose="020F0502020204030204" pitchFamily="34" charset="0"/>
              </a:rPr>
              <a:t>Yield and total production both vary meaningfully across seasons, with visible spread differences season to season.</a:t>
            </a:r>
            <a:endParaRPr lang="en-IN"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31" name="Picture 30" descr="chart_06_cell29.png"/>
          <p:cNvPicPr>
            <a:picLocks noChangeAspect="1"/>
          </p:cNvPicPr>
          <p:nvPr/>
        </p:nvPicPr>
        <p:blipFill>
          <a:blip r:embed="rId3"/>
          <a:stretch>
            <a:fillRect/>
          </a:stretch>
        </p:blipFill>
        <p:spPr>
          <a:xfrm>
            <a:off x="900000" y="2658081"/>
            <a:ext cx="8600000" cy="3033837"/>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675957" y="1191449"/>
            <a:ext cx="10400000" cy="750000"/>
          </a:xfrm>
        </p:spPr>
        <p:txBody>
          <a:bodyPr wrap="square">
            <a:normAutofit/>
          </a:bodyPr>
          <a:lstStyle/>
          <a:p>
            <a:pPr marL="0" indent="0">
              <a:buNone/>
            </a:pPr>
            <a:r>
              <a:rPr sz="1600" dirty="0">
                <a:solidFill>
                  <a:schemeClr val="tx1"/>
                </a:solidFill>
                <a:latin typeface="Calibri" panose="020F0502020204030204" pitchFamily="34" charset="0"/>
                <a:ea typeface="Calibri" panose="020F0502020204030204" pitchFamily="34" charset="0"/>
                <a:cs typeface="Calibri" panose="020F0502020204030204" pitchFamily="34" charset="0"/>
              </a:rPr>
              <a:t>Revenue, cost, profit and profit margin per hectare all differ by season — profit margin highlights efficiency independent of farm size.</a:t>
            </a:r>
            <a:endParaRPr lang="en-IN"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31" name="Picture 30" descr="chart_07_cell32.png"/>
          <p:cNvPicPr>
            <a:picLocks noChangeAspect="1"/>
          </p:cNvPicPr>
          <p:nvPr/>
        </p:nvPicPr>
        <p:blipFill>
          <a:blip r:embed="rId3"/>
          <a:stretch>
            <a:fillRect/>
          </a:stretch>
        </p:blipFill>
        <p:spPr>
          <a:xfrm>
            <a:off x="1868595" y="2050000"/>
            <a:ext cx="6662810" cy="425000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675957" y="1275371"/>
            <a:ext cx="10400000" cy="750000"/>
          </a:xfrm>
        </p:spPr>
        <p:txBody>
          <a:bodyPr wrap="square">
            <a:normAutofit/>
          </a:bodyPr>
          <a:lstStyle/>
          <a:p>
            <a:pPr marL="0" indent="0">
              <a:buNone/>
            </a:pPr>
            <a:r>
              <a:rPr sz="1600" dirty="0">
                <a:solidFill>
                  <a:schemeClr val="tx1"/>
                </a:solidFill>
                <a:latin typeface="Calibri" panose="020F0502020204030204" pitchFamily="34" charset="0"/>
                <a:ea typeface="Calibri" panose="020F0502020204030204" pitchFamily="34" charset="0"/>
                <a:cs typeface="Calibri" panose="020F0502020204030204" pitchFamily="34" charset="0"/>
              </a:rPr>
              <a:t>Average yield by crop and season shows that specific crops clearly outperform in specific seasons — useful for season-wise crop planning.</a:t>
            </a:r>
            <a:endParaRPr lang="en-IN"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31" name="Picture 30" descr="chart_10_cell39.png"/>
          <p:cNvPicPr>
            <a:picLocks noChangeAspect="1"/>
          </p:cNvPicPr>
          <p:nvPr/>
        </p:nvPicPr>
        <p:blipFill>
          <a:blip r:embed="rId3"/>
          <a:stretch>
            <a:fillRect/>
          </a:stretch>
        </p:blipFill>
        <p:spPr>
          <a:xfrm>
            <a:off x="1956122" y="2050000"/>
            <a:ext cx="6487755" cy="425000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675957" y="1245725"/>
            <a:ext cx="10400000" cy="750000"/>
          </a:xfrm>
        </p:spPr>
        <p:txBody>
          <a:bodyPr wrap="square">
            <a:normAutofit/>
          </a:bodyPr>
          <a:lstStyle/>
          <a:p>
            <a:pPr marL="0" indent="0">
              <a:buNone/>
            </a:pPr>
            <a:r>
              <a:rPr sz="1600" dirty="0">
                <a:solidFill>
                  <a:schemeClr val="tx1"/>
                </a:solidFill>
                <a:latin typeface="Calibri" panose="020F0502020204030204" pitchFamily="34" charset="0"/>
                <a:ea typeface="Calibri" panose="020F0502020204030204" pitchFamily="34" charset="0"/>
                <a:cs typeface="Calibri" panose="020F0502020204030204" pitchFamily="34" charset="0"/>
              </a:rPr>
              <a:t>Correlation matrix of key variables highlights the strongest drivers of yield, profit margin and water efficiency.</a:t>
            </a:r>
            <a:endParaRPr lang="en-IN"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31" name="Picture 30" descr="chart_13_cell46.png"/>
          <p:cNvPicPr>
            <a:picLocks noChangeAspect="1"/>
          </p:cNvPicPr>
          <p:nvPr/>
        </p:nvPicPr>
        <p:blipFill>
          <a:blip r:embed="rId3"/>
          <a:stretch>
            <a:fillRect/>
          </a:stretch>
        </p:blipFill>
        <p:spPr>
          <a:xfrm>
            <a:off x="2518680" y="2050000"/>
            <a:ext cx="5362640" cy="425000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690000" y="2050000"/>
            <a:ext cx="8600000" cy="4200000"/>
          </a:xfrm>
          <a:prstGeom prst="rect">
            <a:avLst/>
          </a:prstGeom>
          <a:noFill/>
        </p:spPr>
        <p:txBody>
          <a:bodyPr wrap="square">
            <a:spAutoFit/>
          </a:bodyPr>
          <a:lstStyle/>
          <a:p>
            <a:pPr marL="228600" indent="-228600" algn="l">
              <a:spcAft>
                <a:spcPts val="1000"/>
              </a:spcAft>
              <a:buFont typeface="Arial"/>
              <a:buChar char="•"/>
            </a:pPr>
            <a:r>
              <a:rPr sz="1800">
                <a:solidFill>
                  <a:srgbClr val="222B33"/>
                </a:solidFill>
                <a:latin typeface="Calibri"/>
              </a:rPr>
              <a:t>Extend the analysis with multi-year data to capture year-over-year seasonal trends</a:t>
            </a:r>
          </a:p>
          <a:p>
            <a:pPr marL="228600" indent="-228600" algn="l">
              <a:spcAft>
                <a:spcPts val="1000"/>
              </a:spcAft>
              <a:buFont typeface="Arial"/>
              <a:buChar char="•"/>
            </a:pPr>
            <a:r>
              <a:rPr sz="1800">
                <a:solidFill>
                  <a:srgbClr val="222B33"/>
                </a:solidFill>
                <a:latin typeface="Calibri"/>
              </a:rPr>
              <a:t>Build a predictive model (regression / ML) to forecast yield or profit from seasonal and environmental conditions</a:t>
            </a:r>
          </a:p>
          <a:p>
            <a:pPr marL="228600" indent="-228600" algn="l">
              <a:spcAft>
                <a:spcPts val="1000"/>
              </a:spcAft>
              <a:buFont typeface="Arial"/>
              <a:buChar char="•"/>
            </a:pPr>
            <a:r>
              <a:rPr sz="1800">
                <a:solidFill>
                  <a:srgbClr val="222B33"/>
                </a:solidFill>
                <a:latin typeface="Calibri"/>
              </a:rPr>
              <a:t>Incorporate real-time weather and market-price feeds for dynamic, season-aware advisories</a:t>
            </a:r>
          </a:p>
          <a:p>
            <a:pPr marL="228600" indent="-228600" algn="l">
              <a:spcAft>
                <a:spcPts val="1000"/>
              </a:spcAft>
              <a:buFont typeface="Arial"/>
              <a:buChar char="•"/>
            </a:pPr>
            <a:r>
              <a:rPr sz="1800">
                <a:solidFill>
                  <a:srgbClr val="222B33"/>
                </a:solidFill>
                <a:latin typeface="Calibri"/>
              </a:rPr>
              <a:t>Develop an interactive dashboard for farmers and policymakers to explore seasonal patterns</a:t>
            </a:r>
          </a:p>
          <a:p>
            <a:pPr marL="228600" indent="-228600" algn="l">
              <a:spcAft>
                <a:spcPts val="1000"/>
              </a:spcAft>
              <a:buFont typeface="Arial"/>
              <a:buChar char="•"/>
            </a:pPr>
            <a:r>
              <a:rPr sz="1800">
                <a:solidFill>
                  <a:srgbClr val="222B33"/>
                </a:solidFill>
                <a:latin typeface="Calibri"/>
              </a:rPr>
              <a:t>Expand the analysis to more states and crops to improve generalizability of findings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65115" y="2782669"/>
            <a:ext cx="9500000" cy="646331"/>
          </a:xfrm>
          <a:prstGeom prst="rect">
            <a:avLst/>
          </a:prstGeom>
          <a:noFill/>
        </p:spPr>
        <p:txBody>
          <a:bodyPr wrap="square">
            <a:spAutoFit/>
          </a:bodyPr>
          <a:lstStyle/>
          <a:p>
            <a:r>
              <a:rPr lang="en-US" i="1" dirty="0">
                <a:hlinkClick r:id="rId3"/>
              </a:rPr>
              <a:t>https://github.com/prashanthimallepula-gif/seasonal-agriculture-performance-analysis</a:t>
            </a:r>
            <a:endParaRPr lang="en-US" i="1" dirty="0"/>
          </a:p>
          <a:p>
            <a:endParaRPr lang="en-US" i="1"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3023F198-FF08-4413-92E7-2897234EF3C2}"/>
              </a:ext>
            </a:extLst>
          </p:cNvPr>
          <p:cNvPicPr>
            <a:picLocks noChangeAspect="1"/>
          </p:cNvPicPr>
          <p:nvPr/>
        </p:nvPicPr>
        <p:blipFill rotWithShape="1">
          <a:blip r:embed="rId3"/>
          <a:srcRect l="31501" t="16732" r="12353" b="12941"/>
          <a:stretch/>
        </p:blipFill>
        <p:spPr>
          <a:xfrm>
            <a:off x="1518753" y="1497106"/>
            <a:ext cx="6845317" cy="4823012"/>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608942" y="3078943"/>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2294965" y="3852966"/>
            <a:ext cx="2660905"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1365</TotalTime>
  <Words>549</Words>
  <Application>Microsoft Office PowerPoint</Application>
  <PresentationFormat>Widescreen</PresentationFormat>
  <Paragraphs>49</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Seasonal Agriculture Performance Analysis</vt:lpstr>
      <vt:lpstr>PROBLEM  STATEMENT</vt:lpstr>
      <vt:lpstr>Project Description</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prashanthi Mallepula</cp:lastModifiedBy>
  <cp:revision>99</cp:revision>
  <dcterms:created xsi:type="dcterms:W3CDTF">2021-07-11T13:13:15Z</dcterms:created>
  <dcterms:modified xsi:type="dcterms:W3CDTF">2026-09-06T11:34:49Z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